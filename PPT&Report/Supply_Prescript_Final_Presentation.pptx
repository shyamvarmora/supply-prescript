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2362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29400"/>
            <a:ext cx="4389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PRESCRIPT  •  FINAL RELEASE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SUPPLY PRESCRIPT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713232" y="1856232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CE7F5"/>
                </a:solidFill>
              </a:rPr>
              <a:t>Closed-Loop Prescriptive Analytics for Supply Chain Operations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22376" y="2697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0C6"/>
                </a:solidFill>
              </a:rPr>
              <a:t>Project Presentation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pic>
        <p:nvPicPr>
          <p:cNvPr id="8" name="Image 0" descr="/mnt/data/supply_prescript_assets/architecture.png"/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7223758" y="1051560"/>
            <a:ext cx="4389121" cy="2971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0" y="44988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0" y="473659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final release delivers and what is verified.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922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Backend CI tests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12648" y="18288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</a:rPr>
              <a:t>15 / 15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926080" y="141732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Real PostgreSQL tests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035808" y="18288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</a:rPr>
              <a:t>2 / 2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349240" y="141732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9554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Skipped / failed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58968" y="18288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5803D"/>
                </a:solidFill>
              </a:rPr>
              <a:t>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7772400" y="1417320"/>
            <a:ext cx="23317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1527048"/>
            <a:ext cx="2039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Frontend lint + build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882128" y="1828800"/>
            <a:ext cx="2112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PASS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2880360"/>
            <a:ext cx="1060704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Predict shipment-delay risk from a real PostgreSQL record.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Generate three constrained recommendations with cost/time trade-offs.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Execute a feasible decision and persist it to the operational database.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Capture actual outcomes, evaluate the decision and report ROI.</a:t>
            </a:r>
            <a:endParaRPr lang="en-US" sz="1600" dirty="0"/>
          </a:p>
          <a:p>
            <a:pPr marL="190500" indent="-190500">
              <a:buSzPct val="100000"/>
              <a:buChar char="•"/>
            </a:pPr>
            <a:r>
              <a:rPr lang="en-US" sz="1600" dirty="0">
                <a:solidFill>
                  <a:srgbClr val="111827"/>
                </a:solidFill>
              </a:rPr>
              <a:t>Detect meaningful discrepancies and trigger XGBoost retraining.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5623560"/>
            <a:ext cx="2011680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65099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FINAL RELEASE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5623560"/>
            <a:ext cx="219456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565099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49240" y="5623560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49240" y="5650992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XGBOOST + SCIPY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726680" y="5623560"/>
            <a:ext cx="237744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5650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CLOSED LOOP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Objectives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useful only when it leads to an operational decision.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6420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Business problem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2148840"/>
            <a:ext cx="452628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A delay prediction tells the operator what may happen. It does not, by itself, decide what to do next.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41248" y="3401568"/>
            <a:ext cx="452628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</a:rPr>
              <a:t>Supply Prescript closes the gap by joining prediction, optimization, execution and feedback in one workflow.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" y="48646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4892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PREDICT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04872" y="48646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4872" y="4892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OPTIMIZE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68496" y="486460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68496" y="489204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LEARN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5440680" cy="4206240"/>
          </a:xfrm>
          <a:prstGeom prst="roundRect">
            <a:avLst>
              <a:gd name="adj" fmla="val 1739"/>
            </a:avLst>
          </a:prstGeom>
          <a:solidFill>
            <a:srgbClr val="F9FB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36792" y="1664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Release objectives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466344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XGBoost shipment-delay prediction.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SciPy optimization with Budget / Time / Capacity constraints.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Three alternatives with cost and time trade-offs.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Real decision write-back to PostgreSQL.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Actual outcome, evaluation and ROI.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Discrepancy-driven retraining.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 Requirements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was built around the four weekly implementation phases and the Mid Review gate.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1417320" cy="786384"/>
          </a:xfrm>
          <a:prstGeom prst="rect">
            <a:avLst/>
          </a:prstGeom>
          <a:solidFill>
            <a:srgbClr val="E8F1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1417320"/>
            <a:ext cx="7589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0" y="1417320"/>
            <a:ext cx="1828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655064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Week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76272" y="160020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XGBoost • historical data • React • PostgreSQL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710928" y="16459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PASS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03704"/>
            <a:ext cx="1417320" cy="786384"/>
          </a:xfrm>
          <a:prstGeom prst="rect">
            <a:avLst/>
          </a:prstGeom>
          <a:solidFill>
            <a:srgbClr val="E8F1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11680" y="2203704"/>
            <a:ext cx="7589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0" y="2203704"/>
            <a:ext cx="1828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2441448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Week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76272" y="2386584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SciPy • Budget/Time/Capacity • 3 alternatives • Cost vs Speed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10928" y="2432304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PASS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94360" y="2990088"/>
            <a:ext cx="1417320" cy="786384"/>
          </a:xfrm>
          <a:prstGeom prst="rect">
            <a:avLst/>
          </a:prstGeom>
          <a:solidFill>
            <a:srgbClr val="FFFBEB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11680" y="2990088"/>
            <a:ext cx="7589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601200" y="2990088"/>
            <a:ext cx="1828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" y="3227832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Mid Review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176272" y="3172968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Hard budget • Execute Decision → DB INSERT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710928" y="3218688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PASS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776472"/>
            <a:ext cx="1417320" cy="786384"/>
          </a:xfrm>
          <a:prstGeom prst="rect">
            <a:avLst/>
          </a:prstGeom>
          <a:solidFill>
            <a:srgbClr val="ECFDF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3776472"/>
            <a:ext cx="7589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0" y="3776472"/>
            <a:ext cx="1828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" y="4014216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Week 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2176272" y="3959352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Actual vs predicted • Evaluation • Decision ROI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10928" y="400507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PASS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94360" y="4562856"/>
            <a:ext cx="1417320" cy="786384"/>
          </a:xfrm>
          <a:prstGeom prst="rect">
            <a:avLst/>
          </a:prstGeom>
          <a:solidFill>
            <a:srgbClr val="ECFDF5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11680" y="4562856"/>
            <a:ext cx="758952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01200" y="4562856"/>
            <a:ext cx="1828800" cy="78638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" y="4800600"/>
            <a:ext cx="1271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F33"/>
                </a:solidFill>
              </a:rPr>
              <a:t>Week 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76272" y="4745736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Discrepancy detection • XGBoost retraining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710928" y="4791456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803D"/>
                </a:solidFill>
              </a:rPr>
              <a:t>PASS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7240" y="57150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</a:rPr>
              <a:t>The source brief allows PostgreSQL or Snowflake for application scaffolding. The final release uses PostgreSQL.</a:t>
            </a:r>
            <a:endParaRPr lang="en-US" sz="11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compact operational stack with a clear path from prediction to learning.</a:t>
            </a:r>
            <a:endParaRPr lang="en-US" sz="1100" dirty="0"/>
          </a:p>
        </p:txBody>
      </p:sp>
      <p:pic>
        <p:nvPicPr>
          <p:cNvPr id="4" name="Image 0" descr="/mnt/data/supply_prescript_asset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34440"/>
            <a:ext cx="10744200" cy="3337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4754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Frontend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755648" y="4736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React + Vite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4389120" y="4754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Backend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413248" y="4736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FastAPI / Python</a:t>
            </a:r>
            <a:endParaRPr lang="en-US" sz="1120" dirty="0"/>
          </a:p>
        </p:txBody>
      </p:sp>
      <p:sp>
        <p:nvSpPr>
          <p:cNvPr id="9" name="Text 6"/>
          <p:cNvSpPr/>
          <p:nvPr/>
        </p:nvSpPr>
        <p:spPr>
          <a:xfrm>
            <a:off x="8046720" y="475488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Prediction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070848" y="473659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XGBoost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731520" y="5413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Optimization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755648" y="5394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SciPy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4389120" y="5413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Database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13248" y="5394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PostgreSQL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8046720" y="541324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</a:rPr>
              <a:t>CI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9070848" y="53949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3"/>
                </a:solidFill>
              </a:rPr>
              <a:t>GitHub Actions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Database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is the operational store for the closed loop.</a:t>
            </a:r>
            <a:endParaRPr lang="en-US" sz="1100" dirty="0"/>
          </a:p>
        </p:txBody>
      </p:sp>
      <p:pic>
        <p:nvPicPr>
          <p:cNvPr id="4" name="Image 0" descr="/mnt/data/supply_prescript_assets/database_sch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88720"/>
            <a:ext cx="649224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60920" y="1325880"/>
            <a:ext cx="4160520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635240" y="16002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Core tables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635240" y="2011680"/>
            <a:ext cx="3383280" cy="1737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supply_chain_data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predictions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prescriptive_recommendations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decision_log</a:t>
            </a:r>
            <a:endParaRPr lang="en-US" sz="1400" dirty="0"/>
          </a:p>
          <a:p>
            <a:pPr marL="190500" indent="-190500">
              <a:buSzPct val="100000"/>
              <a:buChar char="•"/>
            </a:pPr>
            <a:r>
              <a:rPr lang="en-US" sz="1400" dirty="0">
                <a:solidFill>
                  <a:srgbClr val="111827"/>
                </a:solidFill>
              </a:rPr>
              <a:t>actual_outcomes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635240" y="411480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414223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POSTGRESQL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9189720" y="4114800"/>
            <a:ext cx="1783080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89720" y="414223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REAL DB TESTS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731520" y="5257800"/>
            <a:ext cx="1060704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11827"/>
                </a:solidFill>
              </a:rPr>
              <a:t>CI creates PostgreSQL 16.4, loads the schema and fixtures, then runs the real integration tests.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 — XGBoost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is generated from real shipment records and persisted for the downstream workflow.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4356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Dataset rows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</a:rPr>
              <a:t>113,097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703320" y="132588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9624" y="14356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Training samples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1304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</a:rPr>
              <a:t>90,477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766560" y="1325880"/>
            <a:ext cx="283464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12864" y="1435608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4748B"/>
                </a:solidFill>
              </a:rPr>
              <a:t>Testing samples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76288" y="1737360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45309"/>
                </a:solidFill>
              </a:rPr>
              <a:t>22,620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100126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154680"/>
            <a:ext cx="47548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Load a real supply-chain record from PostgreSQL.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Build the approved feature set.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Run XGBoost and return delivery-time deviation.</a:t>
            </a:r>
            <a:endParaRPr lang="en-US" sz="1450" dirty="0"/>
          </a:p>
          <a:p>
            <a:pPr marL="190500" indent="-190500">
              <a:buSzPct val="100000"/>
              <a:buChar char="•"/>
            </a:pPr>
            <a:r>
              <a:rPr lang="en-US" sz="1450" dirty="0">
                <a:solidFill>
                  <a:srgbClr val="111827"/>
                </a:solidFill>
              </a:rPr>
              <a:t>Persist the prediction for recommendation and evaluation.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989320" y="3154680"/>
            <a:ext cx="4206240" cy="1371600"/>
          </a:xfrm>
          <a:prstGeom prst="roundRect">
            <a:avLst>
              <a:gd name="adj" fmla="val 4000"/>
            </a:avLst>
          </a:prstGeom>
          <a:solidFill>
            <a:srgbClr val="ECFDF5"/>
          </a:solidFill>
          <a:ln w="12700">
            <a:solidFill>
              <a:srgbClr val="B7E4C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5803D"/>
                </a:solidFill>
              </a:rPr>
              <a:t>Representative live evidence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5803D"/>
                </a:solidFill>
              </a:rPr>
              <a:t>12 Sep 2026</a:t>
            </a:r>
            <a:endParaRPr lang="en-US" sz="1320" dirty="0"/>
          </a:p>
          <a:p>
            <a:pPr marL="0" indent="0" algn="ctr">
              <a:buNone/>
            </a:pPr>
            <a:r>
              <a:rPr lang="en-US" sz="1320" b="1" dirty="0">
                <a:solidFill>
                  <a:srgbClr val="15803D"/>
                </a:solidFill>
              </a:rPr>
              <a:t>Predicted delay: 5.67630672454834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Prescriptive Optimization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turns a prediction into three constrained actions.</a:t>
            </a:r>
            <a:endParaRPr lang="en-US" sz="1100" dirty="0"/>
          </a:p>
        </p:txBody>
      </p:sp>
      <p:pic>
        <p:nvPicPr>
          <p:cNvPr id="4" name="Image 0" descr="/mnt/data/supply_prescript_assets/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10881360" cy="24231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388620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4078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OPTION 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82296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Air Freight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Higher cost / faster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388620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26280" y="4078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OPTION 2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452628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Secondary Supplier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452628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Alternative supplier route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92440" y="3886200"/>
            <a:ext cx="3337560" cy="1280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0" y="40782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4748B"/>
                </a:solidFill>
              </a:rPr>
              <a:t>OPTION 3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8229600" y="4370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3"/>
                </a:solidFill>
              </a:rPr>
              <a:t>Delay Launch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229600" y="473659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</a:rPr>
              <a:t>Lower direct cost / slower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731520" y="562356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11827"/>
                </a:solidFill>
              </a:rPr>
              <a:t>Constraint rule: infeasible alternatives remain visible for auditability but cannot be selected or executed.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UI and UX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frontend follows the operator workflow and keeps model output visible.</a:t>
            </a:r>
            <a:endParaRPr lang="en-US" sz="1100" dirty="0"/>
          </a:p>
        </p:txBody>
      </p:sp>
      <p:pic>
        <p:nvPicPr>
          <p:cNvPr id="4" name="Image 0" descr="/mnt/data/localhost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143000"/>
            <a:ext cx="361188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34840" y="128016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09160" y="1554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What the operator sees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709160" y="2011680"/>
            <a:ext cx="612648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Six operational inputs: record, budget, time and capacity constraints.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Three live backend-generated recommendation cards.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Feasible / infeasible state and selected recommendation.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Execute Decision and returned Decision ID.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Actual Outcome, Evaluation, History and ROI Analytics sections.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111827"/>
                </a:solidFill>
              </a:rPr>
              <a:t>Loading, error and empty states plus responsive layout.</a:t>
            </a:r>
            <a:endParaRPr lang="en-US" sz="1420" dirty="0"/>
          </a:p>
        </p:txBody>
      </p:sp>
      <p:sp>
        <p:nvSpPr>
          <p:cNvPr id="8" name="Shape 5"/>
          <p:cNvSpPr/>
          <p:nvPr/>
        </p:nvSpPr>
        <p:spPr>
          <a:xfrm>
            <a:off x="4709160" y="5166360"/>
            <a:ext cx="1463040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709160" y="51937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FEASIBLE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309360" y="5166360"/>
            <a:ext cx="1645920" cy="310896"/>
          </a:xfrm>
          <a:prstGeom prst="roundRect">
            <a:avLst>
              <a:gd name="adj" fmla="val 17647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51937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INFEASIBLE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8092440" y="5166360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92440" y="519379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EXECUTE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646920" y="5166360"/>
            <a:ext cx="160020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646920" y="5193792"/>
            <a:ext cx="1600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Workflow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stored, evaluated and fed back into the learning cycle.</a:t>
            </a:r>
            <a:endParaRPr lang="en-US" sz="1100" dirty="0"/>
          </a:p>
        </p:txBody>
      </p:sp>
      <p:pic>
        <p:nvPicPr>
          <p:cNvPr id="4" name="Image 0" descr="/mnt/data/supply_prescript_assets/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051560"/>
            <a:ext cx="10972800" cy="32461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47091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Execute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41248" y="51663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decision_log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20440" y="47091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30168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Observe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630168" y="51663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actual_outcomes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47091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19088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Evaluate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6419088" y="51663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difference + ROI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98280" y="47091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208008" y="4892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748B"/>
                </a:solidFill>
              </a:rPr>
              <a:t>Learn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208008" y="516636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retrain on discrepancy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Surface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release exposes a small set of focused REST endpoints.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/health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822960" y="1709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health check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263640" y="1234440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/predict/shipment-delay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400800" y="1709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direct prediction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313432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96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/recommend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22960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prediction + optimization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63640" y="2313432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496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/decisions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00800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decision write-back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5800" y="3392424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575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/decisions/history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22960" y="38679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decision history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3392424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357530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/decisions/{id}/outcome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6400800" y="386791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actual outcome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85800" y="4471416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/decisions/{id}/evaluation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822960" y="4946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decision evaluation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63640" y="4471416"/>
            <a:ext cx="5074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46542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3"/>
                </a:solidFill>
              </a:rPr>
              <a:t>/decisions/analytics/roi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6400800" y="4946904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aggregate ROI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26280" y="5742432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26280" y="576986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REAL API CALLS — NO PLACEHOLDERS</a:t>
            </a:r>
            <a:endParaRPr lang="en-US" sz="9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and Quality Assurance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release verification uses automated tests, real PostgreSQL integration and browser evidence.</a:t>
            </a:r>
            <a:endParaRPr lang="en-US" sz="1100" dirty="0"/>
          </a:p>
        </p:txBody>
      </p:sp>
      <p:pic>
        <p:nvPicPr>
          <p:cNvPr id="4" name="Image 0" descr="/mnt/data/supply_prescript_assets/qa_rel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143000"/>
            <a:ext cx="5577840" cy="27889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1188720"/>
            <a:ext cx="47091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F33"/>
                </a:solidFill>
              </a:rPr>
              <a:t>Final CI gate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0" y="1938528"/>
            <a:ext cx="384048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PostgreSQL 16.4 container + schema + CI fixtures.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RUN_REAL_DB=1 enabled in CI.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15 tests collected / 15 passed / 0 failed.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No skipped real-DB tests and no Python test warnings.</a:t>
            </a:r>
            <a:endParaRPr lang="en-US" sz="1320" dirty="0"/>
          </a:p>
          <a:p>
            <a:pPr marL="190500" indent="-190500">
              <a:buSzPct val="100000"/>
              <a:buChar char="•"/>
            </a:pPr>
            <a:r>
              <a:rPr lang="en-US" sz="1320" dirty="0">
                <a:solidFill>
                  <a:srgbClr val="111827"/>
                </a:solidFill>
              </a:rPr>
              <a:t>Frontend npm ci, lint and build pass.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6858000" y="4462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Latest release commit: 93be9fb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Results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browser run makes the workflow concrete.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557784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B1F33"/>
                </a:solidFill>
              </a:rPr>
              <a:t>I</a:t>
            </a:r>
            <a:r>
              <a:rPr lang="en-US" sz="1800" b="1" dirty="0">
                <a:solidFill>
                  <a:srgbClr val="0B1F33"/>
                </a:solidFill>
              </a:rPr>
              <a:t>ntegrated browser run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745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Prediction target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delivery_time_deviation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Predicted delay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06040" y="2441448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5.67630672454834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300837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Alternatives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3008376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Air Freight / Secondary Supplier / Delay Launch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57530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Hard-budget case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06040" y="357530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Budget = 40 → all options infeasible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1422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Evaluation status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414223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discrepancy_detected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7091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</a:rPr>
              <a:t>Representative ROI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06040" y="4709160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11827"/>
                </a:solidFill>
              </a:rPr>
              <a:t>-1433.39%</a:t>
            </a:r>
            <a:endParaRPr lang="en-US" sz="1150" dirty="0"/>
          </a:p>
        </p:txBody>
      </p:sp>
      <p:pic>
        <p:nvPicPr>
          <p:cNvPr id="18" name="Image 0" descr="/mnt/data/localhost(8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097280"/>
            <a:ext cx="4434840" cy="52120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and Release Delivery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12064" y="8686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release closes the engineering loop and the documentation loop.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173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Shyam</a:t>
            </a:r>
            <a:endParaRPr lang="en-US" sz="1220" dirty="0"/>
          </a:p>
        </p:txBody>
      </p:sp>
      <p:sp>
        <p:nvSpPr>
          <p:cNvPr id="6" name="Text 4"/>
          <p:cNvSpPr/>
          <p:nvPr/>
        </p:nvSpPr>
        <p:spPr>
          <a:xfrm>
            <a:off x="2148840" y="14173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Team lead / DevOps / Integration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8823960" y="139903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23960" y="14264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3317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Chetan</a:t>
            </a:r>
            <a:endParaRPr lang="en-US" sz="1220" dirty="0"/>
          </a:p>
        </p:txBody>
      </p:sp>
      <p:sp>
        <p:nvSpPr>
          <p:cNvPr id="11" name="Text 9"/>
          <p:cNvSpPr/>
          <p:nvPr/>
        </p:nvSpPr>
        <p:spPr>
          <a:xfrm>
            <a:off x="2148840" y="23317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Backend / orchestration / write-back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823960" y="231343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23960" y="23408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5800" y="306324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Yoshita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2148840" y="32461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UI / frontend / decision workflow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23960" y="322783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23960" y="32552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5800" y="397764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6052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0B1F33"/>
                </a:solidFill>
              </a:rPr>
              <a:t>Prashant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2148840" y="416052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11827"/>
                </a:solidFill>
              </a:rPr>
              <a:t>QA / traceability / documentation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23960" y="4142232"/>
            <a:ext cx="1325880" cy="310896"/>
          </a:xfrm>
          <a:prstGeom prst="roundRect">
            <a:avLst>
              <a:gd name="adj" fmla="val 17647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823960" y="4169664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COMPLETE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5074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3"/>
                </a:solidFill>
              </a:rPr>
              <a:t>Release sequence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" y="544068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11827"/>
                </a:solidFill>
              </a:rPr>
              <a:t>6e972e5  →  918ec4a  →  02c2369  →  a5693cf  →  05e01aa  →  93be9fb</a:t>
            </a:r>
            <a:endParaRPr lang="en-US" sz="12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777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FD9C9"/>
                </a:solidFill>
              </a:rPr>
              <a:t>FINAL STATUS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58368" y="123444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Submission-ready release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13232" y="1984248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20" dirty="0">
                <a:solidFill>
                  <a:srgbClr val="DCE7F5"/>
                </a:solidFill>
              </a:rPr>
              <a:t>The software is stable, the PostgreSQL gate is green, and the final QA/documentation state is synchronized.</a:t>
            </a:r>
            <a:endParaRPr lang="en-US" sz="1620" dirty="0"/>
          </a:p>
        </p:txBody>
      </p:sp>
      <p:sp>
        <p:nvSpPr>
          <p:cNvPr id="6" name="Text 4"/>
          <p:cNvSpPr/>
          <p:nvPr/>
        </p:nvSpPr>
        <p:spPr>
          <a:xfrm>
            <a:off x="749808" y="2971800"/>
            <a:ext cx="6858000" cy="23774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No open pull requests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15/15 backend tests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2/2 real PostgreSQL tests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0 skipped / 0 failed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Frontend lint + build PASS</a:t>
            </a:r>
            <a:endParaRPr lang="en-US" sz="1420" dirty="0"/>
          </a:p>
          <a:p>
            <a:pPr marL="190500" indent="-190500">
              <a:buSzPct val="100000"/>
              <a:buChar char="•"/>
            </a:pPr>
            <a:r>
              <a:rPr lang="en-US" sz="1420" dirty="0">
                <a:solidFill>
                  <a:srgbClr val="FFFFFF"/>
                </a:solidFill>
              </a:rPr>
              <a:t>XGBoost + SciPy + write-back + ROI + retraining</a:t>
            </a:r>
            <a:endParaRPr lang="en-US" sz="1420" dirty="0"/>
          </a:p>
        </p:txBody>
      </p:sp>
      <p:sp>
        <p:nvSpPr>
          <p:cNvPr id="8" name="Text 6"/>
          <p:cNvSpPr/>
          <p:nvPr/>
        </p:nvSpPr>
        <p:spPr>
          <a:xfrm>
            <a:off x="8887968" y="2423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796528" y="3063240"/>
            <a:ext cx="2331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823960" y="52578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CBD5E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949</Words>
  <Application>Microsoft Office PowerPoint</Application>
  <PresentationFormat>Widescreen</PresentationFormat>
  <Paragraphs>228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Axlero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Supply Prescript</dc:title>
  <dc:subject>Supply Prescript — Final Project Presentation</dc:subject>
  <dc:creator>Shyam Varmora</dc:creator>
  <cp:lastModifiedBy>shyam varmora</cp:lastModifiedBy>
  <cp:revision>4</cp:revision>
  <dcterms:created xsi:type="dcterms:W3CDTF">2026-09-20T05:53:21Z</dcterms:created>
  <dcterms:modified xsi:type="dcterms:W3CDTF">2026-09-20T06:04:31Z</dcterms:modified>
</cp:coreProperties>
</file>